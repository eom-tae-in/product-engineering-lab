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2072640"/>
            <a:ext cx="3200400" cy="609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71600" y="3063240"/>
            <a:ext cx="944575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A1F1C"/>
                </a:solidFill>
                <a:latin typeface="Apple SD Gothic Neo"/>
                <a:ea typeface="Apple SD Gothic Neo"/>
              </a:rPr>
              <a:t>마감 임박 신선식품을 “떨이”가 아니라</a:t>
            </a:r>
          </a:p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A1F1C"/>
                </a:solidFill>
                <a:latin typeface="Apple SD Gothic Neo"/>
                <a:ea typeface="Apple SD Gothic Neo"/>
              </a:rPr>
              <a:t>“합리적 선택”으로 사게 하는 매장 픽업 서비스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160520"/>
            <a:ext cx="944575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 i="0">
                <a:solidFill>
                  <a:srgbClr val="6B7671"/>
                </a:solidFill>
                <a:latin typeface="Apple SD Gothic Neo"/>
                <a:ea typeface="Apple SD Gothic Neo"/>
              </a:rPr>
              <a:t>설계 문서 발표 자료 (docs/01~17 기반)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671"/>
                </a:solidFill>
                <a:latin typeface="Apple SD Gothic Neo"/>
                <a:ea typeface="Apple SD Gothic Neo"/>
              </a:rPr>
              <a:t>출처: 08-brand-guide.md §1, 01-service-plan.md §1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71"/>
                </a:solidFill>
                <a:latin typeface="Apple SD Gothic Neo"/>
                <a:ea typeface="Apple SD Gothic Neo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7795E"/>
                </a:solidFill>
                <a:latin typeface="Apple SD Gothic Neo"/>
                <a:ea typeface="Apple SD Gothic Neo"/>
              </a:rP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642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F1C"/>
                </a:solidFill>
                <a:latin typeface="Apple SD Gothic Neo"/>
                <a:ea typeface="Apple SD Gothic Neo"/>
              </a:rPr>
              <a:t>마감 폐기와 헛걸음, 신선식품 판매의 네 가지 문제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822960" cy="50800"/>
          </a:xfrm>
          <a:prstGeom prst="rect">
            <a:avLst/>
          </a:prstGeom>
          <a:solidFill>
            <a:srgbClr val="17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51560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900" b="0" i="0">
                <a:solidFill>
                  <a:srgbClr val="1A1F1C"/>
                </a:solidFill>
                <a:latin typeface="Apple SD Gothic Neo"/>
                <a:ea typeface="Apple SD Gothic Neo"/>
              </a:rPr>
              <a:t>마감 시각까지 팔리지 않은 신선식품은 전량 폐기된다 (마감 폐기 손실)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900" b="0" i="0">
                <a:solidFill>
                  <a:srgbClr val="1A1F1C"/>
                </a:solidFill>
                <a:latin typeface="Apple SD Gothic Neo"/>
                <a:ea typeface="Apple SD Gothic Neo"/>
              </a:rPr>
              <a:t>고객은 매장에 직접 가야 마감 할인 여부를 알 수 있다 (할인 정보 비대칭)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900" b="0" i="0">
                <a:solidFill>
                  <a:srgbClr val="1A1F1C"/>
                </a:solidFill>
                <a:latin typeface="Apple SD Gothic Neo"/>
                <a:ea typeface="Apple SD Gothic Neo"/>
              </a:rPr>
              <a:t>매장 도착 시 이미 품절인 경우가 있다 (헛걸음)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sz="190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900" b="0" i="0">
                <a:solidFill>
                  <a:srgbClr val="1A1F1C"/>
                </a:solidFill>
                <a:latin typeface="Apple SD Gothic Neo"/>
                <a:ea typeface="Apple SD Gothic Neo"/>
              </a:rPr>
              <a:t>마감 직전 고객이 몰려 매장 응대가 어렵다 (픽업 시각 혼잡)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671"/>
                </a:solidFill>
                <a:latin typeface="Apple SD Gothic Neo"/>
                <a:ea typeface="Apple SD Gothic Neo"/>
              </a:rPr>
              <a:t>출처: 01-service-plan.md §2 (해결하려는 문제 P1~P4)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71"/>
                </a:solidFill>
                <a:latin typeface="Apple SD Gothic Neo"/>
                <a:ea typeface="Apple SD Gothic Ne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7795E"/>
                </a:solidFill>
                <a:latin typeface="Apple SD Gothic Neo"/>
                <a:ea typeface="Apple SD Gothic Neo"/>
              </a:rPr>
              <a:t>해결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642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F1C"/>
                </a:solidFill>
                <a:latin typeface="Apple SD Gothic Neo"/>
                <a:ea typeface="Apple SD Gothic Neo"/>
              </a:rPr>
              <a:t>savePick: 마감까지 남은 시간에 따라 자동 할인하고</a:t>
            </a:r>
          </a:p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F1C"/>
                </a:solidFill>
                <a:latin typeface="Apple SD Gothic Neo"/>
                <a:ea typeface="Apple SD Gothic Neo"/>
              </a:rPr>
              <a:t>매장 픽업으로 연결한다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822960" cy="50800"/>
          </a:xfrm>
          <a:prstGeom prst="rect">
            <a:avLst/>
          </a:prstGeom>
          <a:solidFill>
            <a:srgbClr val="17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331720"/>
            <a:ext cx="1051560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90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900" b="0" i="0">
                <a:solidFill>
                  <a:srgbClr val="1A1F1C"/>
                </a:solidFill>
                <a:latin typeface="Apple SD Gothic Neo"/>
                <a:ea typeface="Apple SD Gothic Neo"/>
              </a:rPr>
              <a:t>마감까지 남은 시간에 따라 상품을 자동으로 할인해 판매 기회를 늘린다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90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900" b="0" i="0">
                <a:solidFill>
                  <a:srgbClr val="1A1F1C"/>
                </a:solidFill>
                <a:latin typeface="Apple SD Gothic Neo"/>
                <a:ea typeface="Apple SD Gothic Neo"/>
              </a:rPr>
              <a:t>온라인에서 현재 할인가와 잔여 수량을 바로 확인한다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90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900" b="0" i="0">
                <a:solidFill>
                  <a:srgbClr val="1A1F1C"/>
                </a:solidFill>
                <a:latin typeface="Apple SD Gothic Neo"/>
                <a:ea typeface="Apple SD Gothic Neo"/>
              </a:rPr>
              <a:t>주문 시 재고를 확정해 매장 방문 시 수령을 보장한다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90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900" b="0" i="0">
                <a:solidFill>
                  <a:srgbClr val="1A1F1C"/>
                </a:solidFill>
                <a:latin typeface="Apple SD Gothic Neo"/>
                <a:ea typeface="Apple SD Gothic Neo"/>
              </a:rPr>
              <a:t>픽업 시간대를 나눠 예약받아 마감 직전 혼잡을 분산한다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671"/>
                </a:solidFill>
                <a:latin typeface="Apple SD Gothic Neo"/>
                <a:ea typeface="Apple SD Gothic Neo"/>
              </a:rPr>
              <a:t>출처: 01-service-plan.md §1(서비스 정의), §2(savePick의 해결)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71"/>
                </a:solidFill>
                <a:latin typeface="Apple SD Gothic Neo"/>
                <a:ea typeface="Apple SD Gothic Ne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7795E"/>
                </a:solidFill>
                <a:latin typeface="Apple SD Gothic Neo"/>
                <a:ea typeface="Apple SD Gothic Neo"/>
              </a:rPr>
              <a:t>대상 사용자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642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F1C"/>
                </a:solidFill>
                <a:latin typeface="Apple SD Gothic Neo"/>
                <a:ea typeface="Apple SD Gothic Neo"/>
              </a:rPr>
              <a:t>고객은 싸게 사고, 관리자는 폐기를 줄인다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822960" cy="50800"/>
          </a:xfrm>
          <a:prstGeom prst="rect">
            <a:avLst/>
          </a:prstGeom>
          <a:solidFill>
            <a:srgbClr val="17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5257800" cy="3931920"/>
          </a:xfrm>
          <a:prstGeom prst="roundRect">
            <a:avLst>
              <a:gd name="adj" fmla="val 6000"/>
            </a:avLst>
          </a:prstGeom>
          <a:solidFill>
            <a:srgbClr val="E7F4EF"/>
          </a:solidFill>
          <a:ln w="12700">
            <a:solidFill>
              <a:srgbClr val="1779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4617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7795E"/>
                </a:solidFill>
                <a:latin typeface="Apple SD Gothic Neo"/>
                <a:ea typeface="Apple SD Gothic Neo"/>
              </a:rPr>
              <a:t>고객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4617720" cy="2926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0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500" b="0" i="0">
                <a:solidFill>
                  <a:srgbClr val="1A1F1C"/>
                </a:solidFill>
                <a:latin typeface="Apple SD Gothic Neo"/>
                <a:ea typeface="Apple SD Gothic Neo"/>
              </a:rPr>
              <a:t>매장 도보·차량 이동권 안에 거주·근무하는 일반 소비자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0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500" b="0" i="0">
                <a:solidFill>
                  <a:srgbClr val="1A1F1C"/>
                </a:solidFill>
                <a:latin typeface="Apple SD Gothic Neo"/>
                <a:ea typeface="Apple SD Gothic Neo"/>
              </a:rPr>
              <a:t>핵심 동기: 신선식품을 정가보다 싸게 사는 것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0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500" b="0" i="0">
                <a:solidFill>
                  <a:srgbClr val="1A1F1C"/>
                </a:solidFill>
                <a:latin typeface="Apple SD Gothic Neo"/>
                <a:ea typeface="Apple SD Gothic Neo"/>
              </a:rPr>
              <a:t>사용 맥락: 퇴근 전후·장보기 직전에 짧게 확인하고 바로 주문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0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500" b="0" i="0">
                <a:solidFill>
                  <a:srgbClr val="1A1F1C"/>
                </a:solidFill>
                <a:latin typeface="Apple SD Gothic Neo"/>
                <a:ea typeface="Apple SD Gothic Neo"/>
              </a:rPr>
              <a:t>성공 경험: 할인가로 확보하고, 지정 시간에 기다리지 않고 수령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965960"/>
            <a:ext cx="525780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FE6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240280"/>
            <a:ext cx="4617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17795E"/>
                </a:solidFill>
                <a:latin typeface="Apple SD Gothic Neo"/>
                <a:ea typeface="Apple SD Gothic Neo"/>
              </a:rPr>
              <a:t>관리자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834640"/>
            <a:ext cx="4617720" cy="2926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0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500" b="0" i="0">
                <a:solidFill>
                  <a:srgbClr val="1A1F1C"/>
                </a:solidFill>
                <a:latin typeface="Apple SD Gothic Neo"/>
                <a:ea typeface="Apple SD Gothic Neo"/>
              </a:rPr>
              <a:t>매장 운영자 또는 매장 직원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0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500" b="0" i="0">
                <a:solidFill>
                  <a:srgbClr val="1A1F1C"/>
                </a:solidFill>
                <a:latin typeface="Apple SD Gothic Neo"/>
                <a:ea typeface="Apple SD Gothic Neo"/>
              </a:rPr>
              <a:t>핵심 동기: 폐기 손실을 줄이고 픽업 응대 부담을 예측 가능하게 만드는 것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0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500" b="0" i="0">
                <a:solidFill>
                  <a:srgbClr val="1A1F1C"/>
                </a:solidFill>
                <a:latin typeface="Apple SD Gothic Neo"/>
                <a:ea typeface="Apple SD Gothic Neo"/>
              </a:rPr>
              <a:t>사용 맥락: 개점 시 상품·재고 등록, 영업 중 주문·픽업 현황 확인</a:t>
            </a:r>
          </a:p>
          <a:p>
            <a:pPr>
              <a:lnSpc>
                <a:spcPct val="120000"/>
              </a:lnSpc>
              <a:spcAft>
                <a:spcPts val="1200"/>
              </a:spcAft>
            </a:pPr>
            <a:r>
              <a:rPr sz="150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500" b="0" i="0">
                <a:solidFill>
                  <a:srgbClr val="1A1F1C"/>
                </a:solidFill>
                <a:latin typeface="Apple SD Gothic Neo"/>
                <a:ea typeface="Apple SD Gothic Neo"/>
              </a:rPr>
              <a:t>성공 경험: 마감 전 재고 소진, 시간대별 픽업 건수를 미리 파악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671"/>
                </a:solidFill>
                <a:latin typeface="Apple SD Gothic Neo"/>
                <a:ea typeface="Apple SD Gothic Neo"/>
              </a:rPr>
              <a:t>출처: 01-service-plan.md §3 (대상 사용자)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71"/>
                </a:solidFill>
                <a:latin typeface="Apple SD Gothic Neo"/>
                <a:ea typeface="Apple SD Gothic Ne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7795E"/>
                </a:solidFill>
                <a:latin typeface="Apple SD Gothic Neo"/>
                <a:ea typeface="Apple SD Gothic Neo"/>
              </a:rPr>
              <a:t>MVP 범위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642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F1C"/>
                </a:solidFill>
                <a:latin typeface="Apple SD Gothic Neo"/>
                <a:ea typeface="Apple SD Gothic Neo"/>
              </a:rPr>
              <a:t>이번 버전은 매장 픽업 하나로 완결한다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822960" cy="50800"/>
          </a:xfrm>
          <a:prstGeom prst="rect">
            <a:avLst/>
          </a:prstGeom>
          <a:solidFill>
            <a:srgbClr val="17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965960"/>
            <a:ext cx="5257800" cy="3931920"/>
          </a:xfrm>
          <a:prstGeom prst="roundRect">
            <a:avLst>
              <a:gd name="adj" fmla="val 6000"/>
            </a:avLst>
          </a:prstGeom>
          <a:solidFill>
            <a:srgbClr val="E7F4EF"/>
          </a:solidFill>
          <a:ln w="12700">
            <a:solidFill>
              <a:srgbClr val="1779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21992"/>
            <a:ext cx="4617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17795E"/>
                </a:solidFill>
                <a:latin typeface="Apple SD Gothic Neo"/>
                <a:ea typeface="Apple SD Gothic Neo"/>
              </a:rPr>
              <a:t>포함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43200"/>
            <a:ext cx="4617720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5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350" b="0" i="0">
                <a:solidFill>
                  <a:srgbClr val="1A1F1C"/>
                </a:solidFill>
                <a:latin typeface="Apple SD Gothic Neo"/>
                <a:ea typeface="Apple SD Gothic Neo"/>
              </a:rPr>
              <a:t>계정: 회원가입, 로그인/로그아웃, 권한 분리(고객/관리자)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5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350" b="0" i="0">
                <a:solidFill>
                  <a:srgbClr val="1A1F1C"/>
                </a:solidFill>
                <a:latin typeface="Apple SD Gothic Neo"/>
                <a:ea typeface="Apple SD Gothic Neo"/>
              </a:rPr>
              <a:t>상품: 목록·검색·정렬·상세, 마감 할인가·잔여 수량 표시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5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350" b="0" i="0">
                <a:solidFill>
                  <a:srgbClr val="1A1F1C"/>
                </a:solidFill>
                <a:latin typeface="Apple SD Gothic Neo"/>
                <a:ea typeface="Apple SD Gothic Neo"/>
              </a:rPr>
              <a:t>구매: 장바구니, 주문서 생성과 재고 임시 선점, 픽업 날짜·시간대 선택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5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350" b="0" i="0">
                <a:solidFill>
                  <a:srgbClr val="1A1F1C"/>
                </a:solidFill>
                <a:latin typeface="Apple SD Gothic Neo"/>
                <a:ea typeface="Apple SD Gothic Neo"/>
              </a:rPr>
              <a:t>결제: 성공·실패만 판정하는 가상 결제, 실패 재시도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35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350" b="0" i="0">
                <a:solidFill>
                  <a:srgbClr val="1A1F1C"/>
                </a:solidFill>
                <a:latin typeface="Apple SD Gothic Neo"/>
                <a:ea typeface="Apple SD Gothic Neo"/>
              </a:rPr>
              <a:t>사후·운영: 주문 취소, 노쇼 자동 판정, 관리자 상품·재고·주문 관리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965960"/>
            <a:ext cx="5257800" cy="3931920"/>
          </a:xfrm>
          <a:prstGeom prst="roundRect">
            <a:avLst>
              <a:gd name="adj" fmla="val 6000"/>
            </a:avLst>
          </a:prstGeom>
          <a:solidFill>
            <a:srgbClr val="FBECEA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2221992"/>
            <a:ext cx="46177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C0392B"/>
                </a:solidFill>
                <a:latin typeface="Apple SD Gothic Neo"/>
                <a:ea typeface="Apple SD Gothic Neo"/>
              </a:rPr>
              <a:t>제외 (만들지 않음)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743200"/>
            <a:ext cx="4617720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00" b="1" i="0">
                <a:solidFill>
                  <a:srgbClr val="C0392B"/>
                </a:solidFill>
                <a:latin typeface="Apple SD Gothic Neo"/>
                <a:ea typeface="Apple SD Gothic Neo"/>
              </a:rPr>
              <a:t>— </a:t>
            </a:r>
            <a:r>
              <a:rPr sz="1500" b="0" i="0">
                <a:solidFill>
                  <a:srgbClr val="1A1F1C"/>
                </a:solidFill>
                <a:latin typeface="Apple SD Gothic Neo"/>
                <a:ea typeface="Apple SD Gothic Neo"/>
              </a:rPr>
              <a:t>실제 결제 연동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00" b="1" i="0">
                <a:solidFill>
                  <a:srgbClr val="C0392B"/>
                </a:solidFill>
                <a:latin typeface="Apple SD Gothic Neo"/>
                <a:ea typeface="Apple SD Gothic Neo"/>
              </a:rPr>
              <a:t>— </a:t>
            </a:r>
            <a:r>
              <a:rPr sz="1500" b="0" i="0">
                <a:solidFill>
                  <a:srgbClr val="1A1F1C"/>
                </a:solidFill>
                <a:latin typeface="Apple SD Gothic Neo"/>
                <a:ea typeface="Apple SD Gothic Neo"/>
              </a:rPr>
              <a:t>실시간 배송·라이더 배정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00" b="1" i="0">
                <a:solidFill>
                  <a:srgbClr val="C0392B"/>
                </a:solidFill>
                <a:latin typeface="Apple SD Gothic Neo"/>
                <a:ea typeface="Apple SD Gothic Neo"/>
              </a:rPr>
              <a:t>— </a:t>
            </a:r>
            <a:r>
              <a:rPr sz="1500" b="0" i="0">
                <a:solidFill>
                  <a:srgbClr val="1A1F1C"/>
                </a:solidFill>
                <a:latin typeface="Apple SD Gothic Neo"/>
                <a:ea typeface="Apple SD Gothic Neo"/>
              </a:rPr>
              <a:t>지도·위치 추적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00" b="1" i="0">
                <a:solidFill>
                  <a:srgbClr val="C0392B"/>
                </a:solidFill>
                <a:latin typeface="Apple SD Gothic Neo"/>
                <a:ea typeface="Apple SD Gothic Neo"/>
              </a:rPr>
              <a:t>— </a:t>
            </a:r>
            <a:r>
              <a:rPr sz="1500" b="0" i="0">
                <a:solidFill>
                  <a:srgbClr val="1A1F1C"/>
                </a:solidFill>
                <a:latin typeface="Apple SD Gothic Neo"/>
                <a:ea typeface="Apple SD Gothic Neo"/>
              </a:rPr>
              <a:t>AI 추천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500" b="1" i="0">
                <a:solidFill>
                  <a:srgbClr val="C0392B"/>
                </a:solidFill>
                <a:latin typeface="Apple SD Gothic Neo"/>
                <a:ea typeface="Apple SD Gothic Neo"/>
              </a:rPr>
              <a:t>— </a:t>
            </a:r>
            <a:r>
              <a:rPr sz="1500" b="0" i="0">
                <a:solidFill>
                  <a:srgbClr val="1A1F1C"/>
                </a:solidFill>
                <a:latin typeface="Apple SD Gothic Neo"/>
                <a:ea typeface="Apple SD Gothic Neo"/>
              </a:rPr>
              <a:t>다중 매장 재고 연동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671"/>
                </a:solidFill>
                <a:latin typeface="Apple SD Gothic Neo"/>
                <a:ea typeface="Apple SD Gothic Neo"/>
              </a:rPr>
              <a:t>출처: 17-mvp-scope.md §1~§2, 01-service-plan.md §5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71"/>
                </a:solidFill>
                <a:latin typeface="Apple SD Gothic Neo"/>
                <a:ea typeface="Apple SD Gothic Ne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7795E"/>
                </a:solidFill>
                <a:latin typeface="Apple SD Gothic Neo"/>
                <a:ea typeface="Apple SD Gothic Neo"/>
              </a:rPr>
              <a:t>고객 사용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642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F1C"/>
                </a:solidFill>
                <a:latin typeface="Apple SD Gothic Neo"/>
                <a:ea typeface="Apple SD Gothic Neo"/>
              </a:rPr>
              <a:t>담고 · 고르고 · 결제해서 픽업 번호를 받는다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822960" cy="50800"/>
          </a:xfrm>
          <a:prstGeom prst="rect">
            <a:avLst/>
          </a:prstGeom>
          <a:solidFill>
            <a:srgbClr val="17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ow-customer-l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115438"/>
            <a:ext cx="11640312" cy="36329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671"/>
                </a:solidFill>
                <a:latin typeface="Apple SD Gothic Neo"/>
                <a:ea typeface="Apple SD Gothic Neo"/>
              </a:rPr>
              <a:t>출처: 07-user-flows.md FL-001 (상품 탐색부터 주문 확정까지)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71"/>
                </a:solidFill>
                <a:latin typeface="Apple SD Gothic Neo"/>
                <a:ea typeface="Apple SD Gothic Ne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7795E"/>
                </a:solidFill>
                <a:latin typeface="Apple SD Gothic Neo"/>
                <a:ea typeface="Apple SD Gothic Neo"/>
              </a:rPr>
              <a:t>핵심 화면 · 고객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642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F1C"/>
                </a:solidFill>
                <a:latin typeface="Apple SD Gothic Neo"/>
                <a:ea typeface="Apple SD Gothic Neo"/>
              </a:rPr>
              <a:t>목록에서 담고, 주문서에서 10분 안에 결제까지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822960" cy="50800"/>
          </a:xfrm>
          <a:prstGeom prst="rect">
            <a:avLst/>
          </a:prstGeom>
          <a:solidFill>
            <a:srgbClr val="17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516" y="1783080"/>
            <a:ext cx="1944168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016752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7671"/>
                </a:solidFill>
                <a:latin typeface="Apple SD Gothic Neo"/>
                <a:ea typeface="Apple SD Gothic Neo"/>
              </a:rPr>
              <a:t>SC-001 홈·상품 목록</a:t>
            </a:r>
          </a:p>
        </p:txBody>
      </p:sp>
      <p:pic>
        <p:nvPicPr>
          <p:cNvPr id="8" name="Picture 7" descr="sc-003-product-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5836" y="1783080"/>
            <a:ext cx="1944168" cy="4160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26280" y="6016752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7671"/>
                </a:solidFill>
                <a:latin typeface="Apple SD Gothic Neo"/>
                <a:ea typeface="Apple SD Gothic Neo"/>
              </a:rPr>
              <a:t>SC-003 상품 상세</a:t>
            </a:r>
          </a:p>
        </p:txBody>
      </p:sp>
      <p:pic>
        <p:nvPicPr>
          <p:cNvPr id="10" name="Picture 9" descr="sc-005-order-she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9156" y="1783080"/>
            <a:ext cx="1944168" cy="416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0" y="6016752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7671"/>
                </a:solidFill>
                <a:latin typeface="Apple SD Gothic Neo"/>
                <a:ea typeface="Apple SD Gothic Neo"/>
              </a:rPr>
              <a:t>SC-005 주문서 작성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671"/>
                </a:solidFill>
                <a:latin typeface="Apple SD Gothic Neo"/>
                <a:ea typeface="Apple SD Gothic Neo"/>
              </a:rPr>
              <a:t>출처: 06-screen-list.md SC-001·SC-003·SC-005, wireframes/*.html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71"/>
                </a:solidFill>
                <a:latin typeface="Apple SD Gothic Neo"/>
                <a:ea typeface="Apple SD Gothic Ne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7795E"/>
                </a:solidFill>
                <a:latin typeface="Apple SD Gothic Neo"/>
                <a:ea typeface="Apple SD Gothic Neo"/>
              </a:rPr>
              <a:t>핵심 화면 · 관리자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642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F1C"/>
                </a:solidFill>
                <a:latin typeface="Apple SD Gothic Neo"/>
                <a:ea typeface="Apple SD Gothic Neo"/>
              </a:rPr>
              <a:t>관리자는 한 화면에서 오늘의 확정·준비·픽업·노쇼를 본다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822960" cy="50800"/>
          </a:xfrm>
          <a:prstGeom prst="rect">
            <a:avLst/>
          </a:prstGeom>
          <a:solidFill>
            <a:srgbClr val="17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-102-admin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7040" y="1783080"/>
            <a:ext cx="198120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011680" y="6016752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7671"/>
                </a:solidFill>
                <a:latin typeface="Apple SD Gothic Neo"/>
                <a:ea typeface="Apple SD Gothic Neo"/>
              </a:rPr>
              <a:t>SC-102 관리자 홈</a:t>
            </a:r>
          </a:p>
        </p:txBody>
      </p:sp>
      <p:pic>
        <p:nvPicPr>
          <p:cNvPr id="8" name="Picture 7" descr="sc-111-pickup-slot-stat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08310" y="1783080"/>
            <a:ext cx="1899780" cy="4160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92240" y="6016752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6B7671"/>
                </a:solidFill>
                <a:latin typeface="Apple SD Gothic Neo"/>
                <a:ea typeface="Apple SD Gothic Neo"/>
              </a:rPr>
              <a:t>SC-111 시간대별 픽업 현황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671"/>
                </a:solidFill>
                <a:latin typeface="Apple SD Gothic Neo"/>
                <a:ea typeface="Apple SD Gothic Neo"/>
              </a:rPr>
              <a:t>출처: 06-screen-list.md SC-102·SC-111, 07-user-flows.md FL-101·FL-102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71"/>
                </a:solidFill>
                <a:latin typeface="Apple SD Gothic Neo"/>
                <a:ea typeface="Apple SD Gothic Ne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7795E"/>
                </a:solidFill>
                <a:latin typeface="Apple SD Gothic Neo"/>
                <a:ea typeface="Apple SD Gothic Neo"/>
              </a:rPr>
              <a:t>핵심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642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F1C"/>
                </a:solidFill>
                <a:latin typeface="Apple SD Gothic Neo"/>
                <a:ea typeface="Apple SD Gothic Neo"/>
              </a:rPr>
              <a:t>할인은 시간이 정하고, 선점은 10분, 취소는 1시간 전까지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822960" cy="50800"/>
          </a:xfrm>
          <a:prstGeom prst="rect">
            <a:avLst/>
          </a:prstGeom>
          <a:solidFill>
            <a:srgbClr val="17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1106424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650" b="0" i="0">
                <a:solidFill>
                  <a:srgbClr val="1A1F1C"/>
                </a:solidFill>
                <a:latin typeface="Apple SD Gothic Neo"/>
                <a:ea typeface="Apple SD Gothic Neo"/>
              </a:rPr>
              <a:t>마감까지 남은 시간에 따라 자동 할인한다: 24h 초과 0% · 24~6h 30% · 6~2h 50% · 2h~마감 70% (BR-004)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650" b="0" i="0">
                <a:solidFill>
                  <a:srgbClr val="1A1F1C"/>
                </a:solidFill>
                <a:latin typeface="Apple SD Gothic Neo"/>
                <a:ea typeface="Apple SD Gothic Neo"/>
              </a:rPr>
              <a:t>재고 선점은 주문서 생성 시점부터 10분간 유효하며 연장은 없다 (BR-007)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650" b="0" i="0">
                <a:solidFill>
                  <a:srgbClr val="1A1F1C"/>
                </a:solidFill>
                <a:latin typeface="Apple SD Gothic Neo"/>
                <a:ea typeface="Apple SD Gothic Neo"/>
              </a:rPr>
              <a:t>결제 실패는 최대 3회까지 재시도할 수 있고, 3회째 실패 시 선점을 즉시 해제한다 (BR-012)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650" b="0" i="0">
                <a:solidFill>
                  <a:srgbClr val="1A1F1C"/>
                </a:solidFill>
                <a:latin typeface="Apple SD Gothic Neo"/>
                <a:ea typeface="Apple SD Gothic Neo"/>
              </a:rPr>
              <a:t>고객은 픽업 시작 1시간 전까지 취소할 수 있고, 마감 시각 이전 취소만 재고를 복구한다 (BR-018, BR-019)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5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650" b="0" i="0">
                <a:solidFill>
                  <a:srgbClr val="1A1F1C"/>
                </a:solidFill>
                <a:latin typeface="Apple SD Gothic Neo"/>
                <a:ea typeface="Apple SD Gothic Neo"/>
              </a:rPr>
              <a:t>노쇼는 픽업 종료 30분 유예 후 자동 판정되며, 30일 3회 누적 시 7일간 주문이 제한된다 (BR-021, BR-023)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671"/>
                </a:solidFill>
                <a:latin typeface="Apple SD Gothic Neo"/>
                <a:ea typeface="Apple SD Gothic Neo"/>
              </a:rPr>
              <a:t>출처: 04-business-rules.md BR-004·007·012·018·019·021·023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71"/>
                </a:solidFill>
                <a:latin typeface="Apple SD Gothic Neo"/>
                <a:ea typeface="Apple SD Gothic Ne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7795E"/>
                </a:solidFill>
                <a:latin typeface="Apple SD Gothic Neo"/>
                <a:ea typeface="Apple SD Gothic Neo"/>
              </a:rPr>
              <a:t>재고 동시성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642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F1C"/>
                </a:solidFill>
                <a:latin typeface="Apple SD Gothic Neo"/>
                <a:ea typeface="Apple SD Gothic Neo"/>
              </a:rPr>
              <a:t>동시 주문에도 재고는 음수가 되지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822960" cy="50800"/>
          </a:xfrm>
          <a:prstGeom prst="rect">
            <a:avLst/>
          </a:prstGeom>
          <a:solidFill>
            <a:srgbClr val="17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69848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75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750" b="0" i="0">
                <a:solidFill>
                  <a:srgbClr val="1A1F1C"/>
                </a:solidFill>
                <a:latin typeface="Apple SD Gothic Neo"/>
                <a:ea typeface="Apple SD Gothic Neo"/>
              </a:rPr>
              <a:t>1층 방어선: 재고 행 비관적 락으로 동시 요청을 한 줄로 직렬화한다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75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750" b="0" i="0">
                <a:solidFill>
                  <a:srgbClr val="1A1F1C"/>
                </a:solidFill>
                <a:latin typeface="Apple SD Gothic Neo"/>
                <a:ea typeface="Apple SD Gothic Neo"/>
              </a:rPr>
              <a:t>2층 방어선: DB 체크 제약이 초과 판매를 커밋 단계에서 다시 막는다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75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750" b="0" i="0">
                <a:solidFill>
                  <a:srgbClr val="1A1F1C"/>
                </a:solidFill>
                <a:latin typeface="Apple SD Gothic Neo"/>
                <a:ea typeface="Apple SD Gothic Neo"/>
              </a:rPr>
              <a:t>3층 방어선: 재고 원장의 유니크 제약이 해제·복구의 중복 실행을 물리적으로 차단한다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75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750" b="0" i="0">
                <a:solidFill>
                  <a:srgbClr val="1A1F1C"/>
                </a:solidFill>
                <a:latin typeface="Apple SD Gothic Neo"/>
                <a:ea typeface="Apple SD Gothic Neo"/>
              </a:rPr>
              <a:t>한 품목이라도 재고가 부족하면 어떤 품목도 선점하지 않는다 (전부 또는 전무, BR-027)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62356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7671"/>
                </a:solidFill>
                <a:latin typeface="Apple SD Gothic Neo"/>
                <a:ea typeface="Apple SD Gothic Neo"/>
              </a:rPr>
              <a:t>어느 한 층도 애플리케이션 코드의 성실함에 의존하지 않는다.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671"/>
                </a:solidFill>
                <a:latin typeface="Apple SD Gothic Neo"/>
                <a:ea typeface="Apple SD Gothic Neo"/>
              </a:rPr>
              <a:t>출처: 13-inventory-concurrency.md §0.3 (방어선 3층), §1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71"/>
                </a:solidFill>
                <a:latin typeface="Apple SD Gothic Neo"/>
                <a:ea typeface="Apple SD Gothic Ne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7795E"/>
                </a:solidFill>
                <a:latin typeface="Apple SD Gothic Neo"/>
                <a:ea typeface="Apple SD Gothic Neo"/>
              </a:rPr>
              <a:t>데이터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642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F1C"/>
                </a:solidFill>
                <a:latin typeface="Apple SD Gothic Neo"/>
                <a:ea typeface="Apple SD Gothic Neo"/>
              </a:rPr>
              <a:t>재고 집계와 원장을 분리해 조회 성능과 이력 추적을 함께 잡는다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822960" cy="50800"/>
          </a:xfrm>
          <a:prstGeom prst="rect">
            <a:avLst/>
          </a:prstGeom>
          <a:solidFill>
            <a:srgbClr val="17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54398"/>
            <a:ext cx="11274552" cy="37379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671"/>
                </a:solidFill>
                <a:latin typeface="Apple SD Gothic Neo"/>
                <a:ea typeface="Apple SD Gothic Neo"/>
              </a:rPr>
              <a:t>출처: 10-erd.md §0(설계 원칙), §1(전체 ERD, 19개 엔티티 중 핵심 14개 발췌)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71"/>
                </a:solidFill>
                <a:latin typeface="Apple SD Gothic Neo"/>
                <a:ea typeface="Apple SD Gothic Ne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7795E"/>
                </a:solidFill>
                <a:latin typeface="Apple SD Gothic Neo"/>
                <a:ea typeface="Apple SD Gothic Neo"/>
              </a:rPr>
              <a:t>브랜드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642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F1C"/>
                </a:solidFill>
                <a:latin typeface="Apple SD Gothic Neo"/>
                <a:ea typeface="Apple SD Gothic Neo"/>
              </a:rPr>
              <a:t>신선함, 신뢰감, 합리적인 소비를 색과 문구로 지킨다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822960" cy="50800"/>
          </a:xfrm>
          <a:prstGeom prst="rect">
            <a:avLst/>
          </a:prstGeom>
          <a:solidFill>
            <a:srgbClr val="17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74519"/>
            <a:ext cx="2377440" cy="45284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40080" y="2743200"/>
            <a:ext cx="2331720" cy="777240"/>
          </a:xfrm>
          <a:prstGeom prst="roundRect">
            <a:avLst>
              <a:gd name="adj" fmla="val 15000"/>
            </a:avLst>
          </a:prstGeom>
          <a:solidFill>
            <a:srgbClr val="17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</a:rPr>
              <a:t>#17795E</a:t>
            </a:r>
          </a:p>
          <a:p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</a:rPr>
              <a:t>브랜드 · 신선함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36392" y="2743200"/>
            <a:ext cx="2331720" cy="777240"/>
          </a:xfrm>
          <a:prstGeom prst="roundRect">
            <a:avLst>
              <a:gd name="adj" fmla="val 15000"/>
            </a:avLst>
          </a:prstGeom>
          <a:solidFill>
            <a:srgbClr val="0B5F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</a:rPr>
              <a:t>#0B5FA5</a:t>
            </a:r>
          </a:p>
          <a:p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</a:rPr>
              <a:t>할인가 · 절약액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32704" y="2743200"/>
            <a:ext cx="2331720" cy="777240"/>
          </a:xfrm>
          <a:prstGeom prst="roundRect">
            <a:avLst>
              <a:gd name="adj" fmla="val 15000"/>
            </a:avLst>
          </a:prstGeom>
          <a:solidFill>
            <a:srgbClr val="9A5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</a:rPr>
              <a:t>#9A5B00</a:t>
            </a:r>
          </a:p>
          <a:p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</a:rPr>
              <a:t>잔여 3개 이하 경고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29016" y="2743200"/>
            <a:ext cx="2331720" cy="777240"/>
          </a:xfrm>
          <a:prstGeom prst="roundRect">
            <a:avLst>
              <a:gd name="adj" fmla="val 15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l"/>
            <a:r>
              <a:rPr sz="1400" b="1" i="0">
                <a:solidFill>
                  <a:srgbClr val="FFFFFF"/>
                </a:solidFill>
                <a:latin typeface="Apple SD Gothic Neo"/>
                <a:ea typeface="Apple SD Gothic Neo"/>
              </a:rPr>
              <a:t>#C0392B</a:t>
            </a:r>
          </a:p>
          <a:p>
            <a:r>
              <a:rPr sz="1100" b="0" i="0">
                <a:solidFill>
                  <a:srgbClr val="FFFFFF"/>
                </a:solidFill>
                <a:latin typeface="Apple SD Gothic Neo"/>
                <a:ea typeface="Apple SD Gothic Neo"/>
              </a:rPr>
              <a:t>품절·결제 실패·노쇼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77639"/>
            <a:ext cx="1088136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600" b="0" i="0">
                <a:solidFill>
                  <a:srgbClr val="1A1F1C"/>
                </a:solidFill>
                <a:latin typeface="Apple SD Gothic Neo"/>
                <a:ea typeface="Apple SD Gothic Neo"/>
              </a:rPr>
              <a:t>주 색상은 딥 그린 #17795E — 신선식품 카테고리를 연상시키되 저가 이미지를 배제한다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600" b="0" i="0">
                <a:solidFill>
                  <a:srgbClr val="1A1F1C"/>
                </a:solidFill>
                <a:latin typeface="Apple SD Gothic Neo"/>
                <a:ea typeface="Apple SD Gothic Neo"/>
              </a:rPr>
              <a:t>할인가는 붉은색이 아닌 딥 블루 #0B5FA5 — “떨이”가 아닌 “근거 있는 가격”으로 읽게 한다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600" b="0" i="0">
                <a:solidFill>
                  <a:srgbClr val="1A1F1C"/>
                </a:solidFill>
                <a:latin typeface="Apple SD Gothic Neo"/>
                <a:ea typeface="Apple SD Gothic Neo"/>
              </a:rPr>
              <a:t>위험색(#C0392B)은 품절·결제 실패·노쇼에만 쓴다</a:t>
            </a:r>
          </a:p>
          <a:p>
            <a:pPr>
              <a:lnSpc>
                <a:spcPct val="120000"/>
              </a:lnSpc>
              <a:spcAft>
                <a:spcPts val="1400"/>
              </a:spcAft>
            </a:pPr>
            <a:r>
              <a:rPr sz="160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600" b="0" i="0">
                <a:solidFill>
                  <a:srgbClr val="1A1F1C"/>
                </a:solidFill>
                <a:latin typeface="Apple SD Gothic Neo"/>
                <a:ea typeface="Apple SD Gothic Neo"/>
              </a:rPr>
              <a:t>‘떨이’, ‘초특가’, ‘서두르세요’ 같은 조급함 유발 어휘를 쓰지 않는다 (‑요 체 사용)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671"/>
                </a:solidFill>
                <a:latin typeface="Apple SD Gothic Neo"/>
                <a:ea typeface="Apple SD Gothic Neo"/>
              </a:rPr>
              <a:t>출처: 08-brand-guide.md §2(전달할 인상), §3(컬러 토큰), §7(톤 앤 매너)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71"/>
                </a:solidFill>
                <a:latin typeface="Apple SD Gothic Neo"/>
                <a:ea typeface="Apple SD Gothic Ne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7795E"/>
                </a:solidFill>
                <a:latin typeface="Apple SD Gothic Neo"/>
                <a:ea typeface="Apple SD Gothic Neo"/>
              </a:rPr>
              <a:t>완료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642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F1C"/>
                </a:solidFill>
                <a:latin typeface="Apple SD Gothic Neo"/>
                <a:ea typeface="Apple SD Gothic Neo"/>
              </a:rPr>
              <a:t>헛걸음 없이, 초과 판매 없이, 권한 밖 접근 없이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822960" cy="50800"/>
          </a:xfrm>
          <a:prstGeom prst="rect">
            <a:avLst/>
          </a:prstGeom>
          <a:solidFill>
            <a:srgbClr val="17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106424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70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700" b="0" i="0">
                <a:solidFill>
                  <a:srgbClr val="1A1F1C"/>
                </a:solidFill>
                <a:latin typeface="Apple SD Gothic Neo"/>
                <a:ea typeface="Apple SD Gothic Neo"/>
              </a:rPr>
              <a:t>재고가 부족한 상품은 주문서 생성 단계에서 부분 선점 없이 전량 거부된다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70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700" b="0" i="0">
                <a:solidFill>
                  <a:srgbClr val="1A1F1C"/>
                </a:solidFill>
                <a:latin typeface="Apple SD Gothic Neo"/>
                <a:ea typeface="Apple SD Gothic Neo"/>
              </a:rPr>
              <a:t>동시에 마지막 재고를 주문한 두 요청 중 정확히 한 건만 성공한다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70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700" b="0" i="0">
                <a:solidFill>
                  <a:srgbClr val="1A1F1C"/>
                </a:solidFill>
                <a:latin typeface="Apple SD Gothic Neo"/>
                <a:ea typeface="Apple SD Gothic Neo"/>
              </a:rPr>
              <a:t>고객은 픽업 1시간 전까지 취소할 수 있고, 취소 시점에 따라 재고 복구 여부가 정확히 갈린다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70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700" b="0" i="0">
                <a:solidFill>
                  <a:srgbClr val="1A1F1C"/>
                </a:solidFill>
                <a:latin typeface="Apple SD Gothic Neo"/>
                <a:ea typeface="Apple SD Gothic Neo"/>
              </a:rPr>
              <a:t>노쇼가 최근 30일 3회 누적되면 7일간 신규 주문이 차단된다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700" b="1" i="0">
                <a:solidFill>
                  <a:srgbClr val="17795E"/>
                </a:solidFill>
                <a:latin typeface="Apple SD Gothic Neo"/>
                <a:ea typeface="Apple SD Gothic Neo"/>
              </a:rPr>
              <a:t>— </a:t>
            </a:r>
            <a:r>
              <a:rPr sz="1700" b="0" i="0">
                <a:solidFill>
                  <a:srgbClr val="1A1F1C"/>
                </a:solidFill>
                <a:latin typeface="Apple SD Gothic Neo"/>
                <a:ea typeface="Apple SD Gothic Neo"/>
              </a:rPr>
              <a:t>고객 권한 토큰으로 관리자 API에 접근하면 거부되고 어떤 데이터도 반환되지 않는다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671"/>
                </a:solidFill>
                <a:latin typeface="Apple SD Gothic Neo"/>
                <a:ea typeface="Apple SD Gothic Neo"/>
              </a:rPr>
              <a:t>출처: 17-mvp-scope.md §3.1~§3.4 (완료 기준 4·14·7·8·19)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71"/>
                </a:solidFill>
                <a:latin typeface="Apple SD Gothic Neo"/>
                <a:ea typeface="Apple SD Gothic Ne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7795E"/>
                </a:solidFill>
                <a:latin typeface="Apple SD Gothic Neo"/>
                <a:ea typeface="Apple SD Gothic Neo"/>
              </a:rPr>
              <a:t>다음 결정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642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F1C"/>
                </a:solidFill>
                <a:latin typeface="Apple SD Gothic Neo"/>
                <a:ea typeface="Apple SD Gothic Neo"/>
              </a:rPr>
              <a:t>발행 이후에도 남아 있는 다섯 가지 결정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36192"/>
            <a:ext cx="822960" cy="50800"/>
          </a:xfrm>
          <a:prstGeom prst="rect">
            <a:avLst/>
          </a:prstGeom>
          <a:solidFill>
            <a:srgbClr val="1779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874519"/>
            <a:ext cx="1106424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00" b="1" i="0">
                <a:solidFill>
                  <a:srgbClr val="9A5B00"/>
                </a:solidFill>
                <a:latin typeface="Apple SD Gothic Neo"/>
                <a:ea typeface="Apple SD Gothic Neo"/>
              </a:rPr>
              <a:t>— </a:t>
            </a:r>
            <a:r>
              <a:rPr sz="1600" b="0" i="0">
                <a:solidFill>
                  <a:srgbClr val="1A1F1C"/>
                </a:solidFill>
                <a:latin typeface="Apple SD Gothic Neo"/>
                <a:ea typeface="Apple SD Gothic Neo"/>
              </a:rPr>
              <a:t>매장명·주소·영업시간 등 실제 매장 정보 확정 필요 (현재는 임시값 사용 중)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00" b="1" i="0">
                <a:solidFill>
                  <a:srgbClr val="9A5B00"/>
                </a:solidFill>
                <a:latin typeface="Apple SD Gothic Neo"/>
                <a:ea typeface="Apple SD Gothic Neo"/>
              </a:rPr>
              <a:t>— </a:t>
            </a:r>
            <a:r>
              <a:rPr sz="1600" b="0" i="0">
                <a:solidFill>
                  <a:srgbClr val="1A1F1C"/>
                </a:solidFill>
                <a:latin typeface="Apple SD Gothic Neo"/>
                <a:ea typeface="Apple SD Gothic Neo"/>
              </a:rPr>
              <a:t>관리자 세션 수명: 고객과 동일한 30일 유지 vs 매장 공용 단말 12시간안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00" b="1" i="0">
                <a:solidFill>
                  <a:srgbClr val="9A5B00"/>
                </a:solidFill>
                <a:latin typeface="Apple SD Gothic Neo"/>
                <a:ea typeface="Apple SD Gothic Neo"/>
              </a:rPr>
              <a:t>— </a:t>
            </a:r>
            <a:r>
              <a:rPr sz="1600" b="0" i="0">
                <a:solidFill>
                  <a:srgbClr val="1A1F1C"/>
                </a:solidFill>
                <a:latin typeface="Apple SD Gothic Neo"/>
                <a:ea typeface="Apple SD Gothic Neo"/>
              </a:rPr>
              <a:t>게스트 장바구니 보관 방식: 브라우저 세션 한정 vs 서버 7일 보관 (트랙 간 불일치 존재)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00" b="1" i="0">
                <a:solidFill>
                  <a:srgbClr val="9A5B00"/>
                </a:solidFill>
                <a:latin typeface="Apple SD Gothic Neo"/>
                <a:ea typeface="Apple SD Gothic Neo"/>
              </a:rPr>
              <a:t>— </a:t>
            </a:r>
            <a:r>
              <a:rPr sz="1600" b="0" i="0">
                <a:solidFill>
                  <a:srgbClr val="1A1F1C"/>
                </a:solidFill>
                <a:latin typeface="Apple SD Gothic Neo"/>
                <a:ea typeface="Apple SD Gothic Neo"/>
              </a:rPr>
              <a:t>성공 지표(M1~M9) 목표치는 실측 데이터 없는 초기 기준선이며, 운영 데이터로 재설정이 필요하다</a:t>
            </a:r>
          </a:p>
          <a:p>
            <a:pPr>
              <a:lnSpc>
                <a:spcPct val="120000"/>
              </a:lnSpc>
              <a:spcAft>
                <a:spcPts val="1600"/>
              </a:spcAft>
            </a:pPr>
            <a:r>
              <a:rPr sz="1600" b="1" i="0">
                <a:solidFill>
                  <a:srgbClr val="9A5B00"/>
                </a:solidFill>
                <a:latin typeface="Apple SD Gothic Neo"/>
                <a:ea typeface="Apple SD Gothic Neo"/>
              </a:rPr>
              <a:t>— </a:t>
            </a:r>
            <a:r>
              <a:rPr sz="1600" b="0" i="0">
                <a:solidFill>
                  <a:srgbClr val="1A1F1C"/>
                </a:solidFill>
                <a:latin typeface="Apple SD Gothic Neo"/>
                <a:ea typeface="Apple SD Gothic Neo"/>
              </a:rPr>
              <a:t>상품 마감 자동 전환에 대한 감사 이력 기록 여부 (현재는 기록하지 않음)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6B7671"/>
                </a:solidFill>
                <a:latin typeface="Apple SD Gothic Neo"/>
                <a:ea typeface="Apple SD Gothic Neo"/>
              </a:rPr>
              <a:t>출처: 01-service-plan.md §7 U1, 08-brand-guide.md U1, 12-auth.md AU-U1, 17-mvp-scope.md §5 P-1~P-3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51052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i="0">
                <a:solidFill>
                  <a:srgbClr val="6B7671"/>
                </a:solidFill>
                <a:latin typeface="Apple SD Gothic Neo"/>
                <a:ea typeface="Apple SD Gothic Neo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