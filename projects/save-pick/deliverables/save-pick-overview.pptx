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출처: 08-brand-guide.md §1(브랜드 한 줄 정의), 01-service-plan.md §1(서비스 정의·전제표). 발행일 2026-09-03.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출처: 01-service-plan.md §2 표의 "문제"·"현재 상황" 열 그대로.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출처: 01-service-plan.md §2 표 "savePick의 해결" 열, §1 전제표.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출처: 01-service-plan.md §3.1·§3.2 표 전 항목.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출처: 17-mvp-scope.md §1 표(근거 FR 포함), §2. 01-service-plan.md §5.1·§5.2와 동일.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출처: 07-user-flows.md FL-001 Mermaid 원문(노드·분기·라벨 동일, 방향만 LR)과 「단계별 화면 전이와 상태 변화」 표 3·6행.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출처: 06-screen-list.md SC-001·SC-003·SC-005 표시 정보. 이미지는 wireframes/sc-001-home-product-list.html, sc-003-product-detail.html, sc-005-order-sheet.html 촬영본.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출처: 06-screen-list.md SC-102·SC-111 표시 정보와 SC-102 「구현 메모(2026-09-03)」, 07-user-flows.md §2 관리자 흐름. 이미지는 wireframes/sc-102-admin-home.html, sc-111-pickup-slot-status.html 촬영본.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출처: 04-business-rules.md BR-004 구간표, BR-007, BR-012, BR-018, BR-019, BR-021, BR-023. 수치는 00-status.md G1 확정값과 동일하다.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출처: 13-inventory-concurrency.md §0.3 방어선 3층 표, §1 임시 선점 저장 구조 표, 04-business-rules.md BR-027.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출처: 10-erd.md §1 Mermaid 원문에서 14개 엔티티 발췌(관계·카디널리티 동일), §1.1 엔티티 한 줄 정의 8·9번.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출처: 08-brand-guide.md §3.1 컬러 토큰표, §5.2 심볼 개념, §7.1 원칙, §7.2 문구 예시, §7.3 쓰지 않는 어휘. §2.3 할인가에 붉은색을 쓰지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출처: 17-mvp-scope.md §3.1 항목 2·4·8, §3.3 항목 14·15, §3.4 항목 19. 검증 TC는 16-test-plan.md.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출처: 00-status.md §G5 표(백엔드·프론트엔드·연동·CI), 「구현 중 확정한 사항」 I1~I3, 「설계와 어긋나 구현하지 못한 것」 4행과 그 아래 문단. I3의 근거는 11-api-spec.md API-114 응답 필드. SC-112·SC-102는 06-screen-list.md 「구현 메모(2026-09-03)」.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출처: 17-mvp-scope.md §5 P-1~P-5 표, 01-service-plan.md §7 미확정 U1, 00-status.md 「다음 작업」 2·3행.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3" name="Picture 2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2443" y="1874519"/>
            <a:ext cx="4186808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80160" y="3337560"/>
            <a:ext cx="963137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savePick은 마감 임박 신선식품을 "떨이"가 아니라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1400"/>
              </a:spcAft>
            </a:pPr>
            <a:r>
              <a:rPr sz="2400" b="1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"합리적 선택"으로 사게 하는 매장 픽업 서비스다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단일 매장 · 매장 픽업 · 가상 결제 · 관리자 직접 재고 관리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577840"/>
            <a:ext cx="96313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설계 문서 01~17 요약 · 발행 2026-09-03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전 문서 승인 확인: 15-review-report.md 「재검토 (2026-08-29)」 · G5 구현 반영: 00-status.md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마감까지 팔리지 않으면 전량 폐기되고, 고객은 헛걸음한다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01-service-plan.md가 정의한 네 가지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출처 · 01-service-plan.md §2 「해결하려는 문제」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5887" y="63825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savePick · 2026-09-03 · 2 /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10874959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P1 · 매장의 마감 폐기 손실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마감 시각까지 팔리지 않은 신선식품은 전량 폐기된다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06624"/>
            <a:ext cx="10874959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P2 · 할인 정보의 비대칭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고객은 매장에 직접 가야 마감 할인 여부를 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675887"/>
            <a:ext cx="10874959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P3 · 헛걸음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매장 도착 시 이미 품절인 경우가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645152"/>
            <a:ext cx="10874959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P4 · 픽업 시각 혼잡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마감 직전 고객이 몰려 응대가 어렵다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남은 시간만큼 값을 내리고, 고른 시간에 매장에서 받는다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네 가지 문제에 각각 대응하는 해결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출처 · 01-service-plan.md §1, §2 「savePick의 해결」 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5887" y="63825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savePick · 2026-09-03 · 3 /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10874959" cy="777240"/>
          </a:xfrm>
          <a:prstGeom prst="roundRect">
            <a:avLst>
              <a:gd name="adj" fmla="val 6000"/>
            </a:avLst>
          </a:prstGeom>
          <a:solidFill>
            <a:srgbClr val="E7F4EF"/>
          </a:solidFill>
          <a:ln w="12700">
            <a:solidFill>
              <a:srgbClr val="E7F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P1 폐기 손실   </a:t>
            </a:r>
            <a:r>
              <a:rPr sz="17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남은 시간에 따라 자동으로 할인해 판매 기회를 늘린다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24328"/>
            <a:ext cx="10874959" cy="777240"/>
          </a:xfrm>
          <a:prstGeom prst="roundRect">
            <a:avLst>
              <a:gd name="adj" fmla="val 6000"/>
            </a:avLst>
          </a:prstGeom>
          <a:solidFill>
            <a:srgbClr val="E7F4EF"/>
          </a:solidFill>
          <a:ln w="12700">
            <a:solidFill>
              <a:srgbClr val="E7F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P2 정보 비대칭   </a:t>
            </a:r>
            <a:r>
              <a:rPr sz="17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온라인에서 현재 할인가와 잔여 수량을 확인한다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511296"/>
            <a:ext cx="10874959" cy="777240"/>
          </a:xfrm>
          <a:prstGeom prst="roundRect">
            <a:avLst>
              <a:gd name="adj" fmla="val 6000"/>
            </a:avLst>
          </a:prstGeom>
          <a:solidFill>
            <a:srgbClr val="E7F4EF"/>
          </a:solidFill>
          <a:ln w="12700">
            <a:solidFill>
              <a:srgbClr val="E7F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P3 헛걸음   </a:t>
            </a:r>
            <a:r>
              <a:rPr sz="17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주문 시 재고를 확정해 수령을 보장한다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398264"/>
            <a:ext cx="10874959" cy="777240"/>
          </a:xfrm>
          <a:prstGeom prst="roundRect">
            <a:avLst>
              <a:gd name="adj" fmla="val 6000"/>
            </a:avLst>
          </a:prstGeom>
          <a:solidFill>
            <a:srgbClr val="E7F4EF"/>
          </a:solidFill>
          <a:ln w="12700">
            <a:solidFill>
              <a:srgbClr val="E7F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P4 픽업 혼잡   </a:t>
            </a:r>
            <a:r>
              <a:rPr sz="17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픽업 시간대를 나눠 예약받아 분산한다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358383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첫 버전 전제 — 단일 매장 1곳 · 고객이 방문해 직접 픽업 · 성공·실패만 판정하는 가상 결제 · 관리자가 실물 재고를 직접 등록·조정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고객은 싸게 사고, 관리자는 폐기를 줄인다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대상 사용자는 두 종류다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출처 · 01-service-plan.md §3.1(고객), §3.2(관리자)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5887" y="63825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savePick · 2026-09-03 · 4 /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5254599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고객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정의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매장 도보·차량 이동권 안에 거주하거나 근무하며 직접 매장을 방문할 수 있는 일반 소비자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핵심 동기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신선식품을 정가보다 싸게 사는 것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사용 맥락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퇴근 전후, 장보기 직전에 짧게 확인하고 바로 주문한다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성공 경험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원하는 상품을 할인가로 확보하고, 지정한 시간에 기다리지 않고 받아 간다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254599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관리자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정의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매장 운영자 또는 매장 직원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핵심 동기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폐기 손실을 줄이고, 픽업 응대 부담을 예측 가능하게 만드는 것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사용 맥락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개점 시 상품·재고를 등록하고, 영업 중 주문과 픽업 현황을 확인한다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성공 경험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마감 전에 재고를 소진하고, 시간대별 픽업 건수를 미리 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만들 것과 만들지 않을 것을 문서에 고정했다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01 §5 범위를 17번이 검증 가능한 형태로 유지한다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출처 · 17-mvp-scope.md §1·§2 (01-service-plan.md §5.1·§5.2 유지)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5887" y="63825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savePick · 2026-09-03 · 5 /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6688099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포함 (FR-001~058)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계정  </a:t>
            </a:r>
            <a:r>
              <a:rPr sz="14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회원가입, 로그인/로그아웃, 회원 정보 조회·수정, 권한 분리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상품  </a:t>
            </a:r>
            <a:r>
              <a:rPr sz="14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목록, 검색, 정렬·필터, 상세, 마감 할인가·잔여 수량 표시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구매  </a:t>
            </a:r>
            <a:r>
              <a:rPr sz="14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장바구니, 주문서 생성과 재고 임시 선점(10분), 픽업 날짜·시간대 선택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결제  </a:t>
            </a:r>
            <a:r>
              <a:rPr sz="14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가상 결제(성공·실패 판정), 실패 재시도(최대 3회)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사후 관리  </a:t>
            </a:r>
            <a:r>
              <a:rPr sz="14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주문 내역·상세 조회, 고객 취소, 노쇼 자동 판정과 제재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운영  </a:t>
            </a:r>
            <a:r>
              <a:rPr sz="14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관리자 상품·재고·주문·픽업 운영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66507" y="1737360"/>
            <a:ext cx="3866819" cy="3749039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제외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· 실제 결제 연동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· 실시간 배송·라이더 배정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· 지도·위치 추적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· AI 추천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· 다중 매장 재고 연동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어떤 문서·화면·API에도 유입되지 않았음을 15번 §4에서 확인했다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탐색부터 픽업 번호 발급까지 한 흐름으로 이어진다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FL-001 · 상품 탐색부터 주문 확정까지 (원문 다이어그램을 가로 배치로만 재배치)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출처 · 07-user-flows.md §1 FL-001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5887" y="63825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savePick · 2026-09-03 · 6 / 15</a:t>
            </a:r>
          </a:p>
        </p:txBody>
      </p:sp>
      <p:pic>
        <p:nvPicPr>
          <p:cNvPr id="7" name="Picture 6" descr="diagram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7" y="2148840"/>
            <a:ext cx="10874959" cy="17486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448056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주문 상태 변화 — 주문서 생성 시 PENDING(판매 가능 −N, 선점 중 +N) → 결제 성공 시 CONFIRMED(선점 중 −N, 확정 판매 +N, 픽업 정원 +1)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장바구니 담기는 재고를 바꾸지 않는다 (BR-010). 선점 10분이 지나면 FL-003(선점 만료), 결제가 실패하면 FL-004로 갈라진다.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고객 화면은 할인 근거와 남은 시간을 항상 함께 보여준다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와이어프레임 28화면 중 주문 경로 3화면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출처 · 06-screen-list.md SC-001·SC-003·SC-005 / wireframes/*.html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5887" y="63825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savePick · 2026-09-03 · 7 / 15</a:t>
            </a:r>
          </a:p>
        </p:txBody>
      </p:sp>
      <p:pic>
        <p:nvPicPr>
          <p:cNvPr id="7" name="Picture 6" descr="sc-001-home-product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586" y="1737360"/>
            <a:ext cx="1748789" cy="31089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4937760"/>
            <a:ext cx="32592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SC-001 · 홈 · 상품 목록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정가·할인가·할인율·절약액·잔여 수량·마감 시각</a:t>
            </a:r>
          </a:p>
        </p:txBody>
      </p:sp>
      <p:pic>
        <p:nvPicPr>
          <p:cNvPr id="9" name="Picture 8" descr="sc-003-product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1452" y="1737360"/>
            <a:ext cx="1748789" cy="31089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66234" y="4937760"/>
            <a:ext cx="32592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SC-003 · 상품 상세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수량 선택과 장바구니 담기, 1회 주문 한도 안내</a:t>
            </a:r>
          </a:p>
        </p:txBody>
      </p:sp>
      <p:pic>
        <p:nvPicPr>
          <p:cNvPr id="11" name="Picture 10" descr="sc-005-order-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9319" y="1737360"/>
            <a:ext cx="1748789" cy="31089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4100" y="4937760"/>
            <a:ext cx="32592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SC-005 · 주문서</a:t>
            </a:r>
          </a:p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선점 10분 타이머, 결제 확정 금액 고정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관리자는 오늘의 준비량과 픽업 시간대를 한 화면에서 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FL-101~105 관리자 흐름의 출발점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출처 · 06-screen-list.md SC-102·SC-111, 07-user-flows.md §2 / wireframes/*.html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5887" y="63825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savePick · 2026-09-03 · 8 / 15</a:t>
            </a:r>
          </a:p>
        </p:txBody>
      </p:sp>
      <p:pic>
        <p:nvPicPr>
          <p:cNvPr id="7" name="Picture 6" descr="sc-102-admin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37360"/>
            <a:ext cx="1825942" cy="3246120"/>
          </a:xfrm>
          <a:prstGeom prst="rect">
            <a:avLst/>
          </a:prstGeom>
        </p:spPr>
      </p:pic>
      <p:pic>
        <p:nvPicPr>
          <p:cNvPr id="8" name="Picture 7" descr="sc-111-pickup-slot-stat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128" y="1737360"/>
            <a:ext cx="1825942" cy="3246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53328" y="1737360"/>
            <a:ext cx="547999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SC-102 · 관리자 홈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오늘 요약(확정·준비 완료·픽업 완료·노쇼 건수, 판매 가능 0인 상품 수), 다음 픽업 시간대와 예약 건수, 픽업 번호 빠른 입력창, 메뉴 8개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SC-111 · 시간대별 픽업 현황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30분 단위 24개 시간대 행(예약 건수 / 정원 20건), 정원 도달·차단·종료 구분 표시, 시간대별 주문 목록에서 준비 완료 일괄 실행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CANCELED·NO_SHOW 주문은 예약 건수에 포함하지 않는다 (FR-055)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53328" y="4526279"/>
            <a:ext cx="5479999" cy="86868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 w="12700">
            <a:solidFill>
              <a:srgbClr val="FDF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9A5B00"/>
                </a:solidFill>
                <a:latin typeface="Apple SD Gothic Neo"/>
                <a:ea typeface="Apple SD Gothic Neo"/>
                <a:cs typeface="Apple SD Gothic Neo"/>
              </a:rPr>
              <a:t>구현 메모 (06번, 2026-09-03)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관리자 홈의 「재고 이력」 메뉴는 상품을 고르지 않고 여는 화면이 없어(API-111은 상품별 조회), 실제 진입점인 재고 관리(SC-105)로 연결했다.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할인·선점·취소·노쇼의 수치는 문서에서 하나의 값으로 고정돼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모든 화면·API·배치가 같은 값을 참조한다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출처 · 04-business-rules.md BR-004·007·012·018·019·021·023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5887" y="63825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savePick · 2026-09-03 · 9 /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1087495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BR-004 · 마감까지 남은 시간으로 할인율이 자동 결정된다 (관리자가 개별 지정하지 않는다)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2304288"/>
            <a:ext cx="1823862" cy="548640"/>
          </a:xfrm>
          <a:prstGeom prst="roundRect">
            <a:avLst>
              <a:gd name="adj" fmla="val 6000"/>
            </a:avLst>
          </a:prstGeom>
          <a:solidFill>
            <a:srgbClr val="E7F4EF"/>
          </a:solidFill>
          <a:ln w="12700">
            <a:solidFill>
              <a:srgbClr val="E7F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B5FA5"/>
                </a:solidFill>
                <a:latin typeface="Apple SD Gothic Neo"/>
                <a:ea typeface="Apple SD Gothic Neo"/>
                <a:cs typeface="Apple SD Gothic Neo"/>
              </a:rPr>
              <a:t>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871215"/>
            <a:ext cx="182386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24시간 초과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4294" y="2304288"/>
            <a:ext cx="1823862" cy="548640"/>
          </a:xfrm>
          <a:prstGeom prst="roundRect">
            <a:avLst>
              <a:gd name="adj" fmla="val 6000"/>
            </a:avLst>
          </a:prstGeom>
          <a:solidFill>
            <a:srgbClr val="E7F4EF"/>
          </a:solidFill>
          <a:ln w="12700">
            <a:solidFill>
              <a:srgbClr val="E7F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B5FA5"/>
                </a:solidFill>
                <a:latin typeface="Apple SD Gothic Neo"/>
                <a:ea typeface="Apple SD Gothic Neo"/>
                <a:cs typeface="Apple SD Gothic Neo"/>
              </a:rPr>
              <a:t>30%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4294" y="2871215"/>
            <a:ext cx="182386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24시간 이하 ~ 6시간 초과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83916" y="2304288"/>
            <a:ext cx="1823862" cy="548640"/>
          </a:xfrm>
          <a:prstGeom prst="roundRect">
            <a:avLst>
              <a:gd name="adj" fmla="val 6000"/>
            </a:avLst>
          </a:prstGeom>
          <a:solidFill>
            <a:srgbClr val="E7F4EF"/>
          </a:solidFill>
          <a:ln w="12700">
            <a:solidFill>
              <a:srgbClr val="E7F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B5FA5"/>
                </a:solidFill>
                <a:latin typeface="Apple SD Gothic Neo"/>
                <a:ea typeface="Apple SD Gothic Neo"/>
                <a:cs typeface="Apple SD Gothic Neo"/>
              </a:rPr>
              <a:t>50%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3916" y="2871215"/>
            <a:ext cx="182386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6시간 이하 ~ 2시간 초과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3538" y="2304288"/>
            <a:ext cx="1823862" cy="548640"/>
          </a:xfrm>
          <a:prstGeom prst="roundRect">
            <a:avLst>
              <a:gd name="adj" fmla="val 6000"/>
            </a:avLst>
          </a:prstGeom>
          <a:solidFill>
            <a:srgbClr val="E7F4EF"/>
          </a:solidFill>
          <a:ln w="12700">
            <a:solidFill>
              <a:srgbClr val="E7F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B5FA5"/>
                </a:solidFill>
                <a:latin typeface="Apple SD Gothic Neo"/>
                <a:ea typeface="Apple SD Gothic Neo"/>
                <a:cs typeface="Apple SD Gothic Neo"/>
              </a:rPr>
              <a:t>70%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3538" y="2871215"/>
            <a:ext cx="182386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2시간 이하 ~ 마감 이전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3160" y="2304288"/>
            <a:ext cx="1823862" cy="548640"/>
          </a:xfrm>
          <a:prstGeom prst="roundRect">
            <a:avLst>
              <a:gd name="adj" fmla="val 6000"/>
            </a:avLst>
          </a:prstGeom>
          <a:solidFill>
            <a:srgbClr val="DFE6E2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36576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판매 종료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63160" y="2871215"/>
            <a:ext cx="182386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마감 시각 도달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337560"/>
            <a:ext cx="5254599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BR-007 · 선점 10분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주문서 생성 시점부터 10분간 유효하고 연장은 없다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3337560"/>
            <a:ext cx="5254599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BR-012 · 결제 3회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1~2회 실패는 선점 유지, 3회째 실패는 FAILED + 즉시 해제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178808"/>
            <a:ext cx="5254599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BR-018 · 취소 1시간 전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픽업 시간대 시작 1시간 전까지 고객이 직접 취소한다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4178808"/>
            <a:ext cx="5254599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BR-019 · 마감 후 취소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마감 이전 취소는 재고 복구, 마감 이후 취소는 복구 없이 폐기 기록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020056"/>
            <a:ext cx="5254599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BR-021 · 노쇼 유예 30분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픽업 종료 30분 뒤에도 CONFIRMED·READY면 자동 NO_SHOW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8727" y="5020056"/>
            <a:ext cx="5254599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BR-023 · 노쇼 제재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최근 30일 노쇼 3회 누적 시 7일간 새 주문서를 만들 수 없다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동시에 마지막 재고를 주문해도 초과 판매가 생기지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어느 층도 애플리케이션 코드의 성실함에 의존하지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출처 · 13-inventory-concurrency.md §0.3, §1 / 04 BR-027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5887" y="63825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savePick · 2026-09-03 · 10 /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3381146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1층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product_stocks 행 비관적 락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동시 요청의 교차 실행을 막는다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1572768"/>
            <a:ext cx="603504" cy="365760"/>
          </a:xfrm>
          <a:prstGeom prst="roundRect">
            <a:avLst>
              <a:gd name="adj" fmla="val 6000"/>
            </a:avLst>
          </a:prstGeom>
          <a:solidFill>
            <a:srgbClr val="17795E"/>
          </a:solidFill>
          <a:ln w="12700">
            <a:solidFill>
              <a:srgbClr val="1779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27432" bIns="27432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5274" y="1737360"/>
            <a:ext cx="3381146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2층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CHK_stock_non_negative_available
(total − held − confirmed ≥ 0)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코드 버그로 인한 초과 판매를 막는다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51578" y="1572768"/>
            <a:ext cx="603504" cy="365760"/>
          </a:xfrm>
          <a:prstGeom prst="roundRect">
            <a:avLst>
              <a:gd name="adj" fmla="val 6000"/>
            </a:avLst>
          </a:prstGeom>
          <a:solidFill>
            <a:srgbClr val="17795E"/>
          </a:solidFill>
          <a:ln w="12700">
            <a:solidFill>
              <a:srgbClr val="1779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27432" bIns="27432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2180" y="1737360"/>
            <a:ext cx="3381146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3층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stock_ledgers의
UNIQUE (order_id, product_id, reason)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해제·복구의 중복 실행을 막는다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98484" y="1572768"/>
            <a:ext cx="603504" cy="365760"/>
          </a:xfrm>
          <a:prstGeom prst="roundRect">
            <a:avLst>
              <a:gd name="adj" fmla="val 6000"/>
            </a:avLst>
          </a:prstGeom>
          <a:solidFill>
            <a:srgbClr val="17795E"/>
          </a:solidFill>
          <a:ln w="12700">
            <a:solidFill>
              <a:srgbClr val="1779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27432" bIns="27432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14800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선점은 세 곳에 같은 트랜잭션으로 함께 쓴다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inventory_holds 1행(주문×품목 정본) · product_stocks.held_quantity(락 지점) · stock_ledgers 1행(reason = HOLD)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974336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부분 선점을 만들지 않는다 (BR-027)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한 품목이라도 부족하면 어떤 품목도 선점하지 않고 부족 품목·수량을 알린다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19개 엔티티가 재고·주문·픽업을 한 모델로 잇는다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전체 ERD 19개 중 핵심 14개 발췌 (관계 표기는 원문과 동일)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출처 · 10-erd.md §1 전체 ERD, §1.1 엔티티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5887" y="63825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savePick · 2026-09-03 · 11 / 15</a:t>
            </a:r>
          </a:p>
        </p:txBody>
      </p:sp>
      <p:pic>
        <p:nvPicPr>
          <p:cNvPr id="7" name="Picture 6" descr="diagram-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8464" y="1645919"/>
            <a:ext cx="8694765" cy="3429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5166360"/>
            <a:ext cx="1087495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PRODUCT_STOCK은 상품별 재고 4값(총 재고 / 판매 가능 / 선점 중 / 확정 판매) 집계이자 재고 경합의 유일한 락 지점이고, STOCK_LEDGER는 추가 전용 원장으로 멱등성 보증 지점이다.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할인을 감정이 아니라 근거로 읽게 만든다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컬러·문구 규칙은 08-brand-guide.md 토큰만 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출처 · 08-brand-guide.md §2.3, §3.1, §5, §7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5887" y="63825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savePick · 2026-09-03 · 12 / 15</a:t>
            </a:r>
          </a:p>
        </p:txBody>
      </p:sp>
      <p:pic>
        <p:nvPicPr>
          <p:cNvPr id="7" name="Picture 6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28800"/>
            <a:ext cx="2651760" cy="6949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2697480"/>
            <a:ext cx="2743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심볼은 체크 표시의 긴 획을 잎사귀로 바꾼 형태다. 체크는 고르는 행위(Pick), 잎사귀는 신선함, 라운드 스퀘어는 매장이라는 하나의 장소를 뜻한다.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21608" y="1737360"/>
            <a:ext cx="1416039" cy="868680"/>
          </a:xfrm>
          <a:prstGeom prst="roundRect">
            <a:avLst>
              <a:gd name="adj" fmla="val 6000"/>
            </a:avLst>
          </a:prstGeom>
          <a:solidFill>
            <a:srgbClr val="17795E"/>
          </a:solidFill>
          <a:ln w="12700">
            <a:solidFill>
              <a:srgbClr val="1779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#17795E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1608" y="2670048"/>
            <a:ext cx="14160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--color-brand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주 브랜드색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20527" y="1737360"/>
            <a:ext cx="1416039" cy="868680"/>
          </a:xfrm>
          <a:prstGeom prst="roundRect">
            <a:avLst>
              <a:gd name="adj" fmla="val 6000"/>
            </a:avLst>
          </a:prstGeom>
          <a:solidFill>
            <a:srgbClr val="2FA37A"/>
          </a:solidFill>
          <a:ln w="12700">
            <a:solidFill>
              <a:srgbClr val="2FA3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#2FA37A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0527" y="2670048"/>
            <a:ext cx="14160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--color-fresh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신선도·잔여 시간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19447" y="1737360"/>
            <a:ext cx="1416039" cy="868680"/>
          </a:xfrm>
          <a:prstGeom prst="roundRect">
            <a:avLst>
              <a:gd name="adj" fmla="val 6000"/>
            </a:avLst>
          </a:prstGeom>
          <a:solidFill>
            <a:srgbClr val="0B5FA5"/>
          </a:solidFill>
          <a:ln w="12700">
            <a:solidFill>
              <a:srgbClr val="0B5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#0B5FA5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9447" y="2670048"/>
            <a:ext cx="14160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--color-discount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할인가·절약액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18367" y="1737360"/>
            <a:ext cx="1416039" cy="868680"/>
          </a:xfrm>
          <a:prstGeom prst="roundRect">
            <a:avLst>
              <a:gd name="adj" fmla="val 6000"/>
            </a:avLst>
          </a:prstGeom>
          <a:solidFill>
            <a:srgbClr val="9A5B00"/>
          </a:solidFill>
          <a:ln w="12700">
            <a:solidFill>
              <a:srgbClr val="9A5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#9A5B00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8367" y="2670048"/>
            <a:ext cx="14160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--color-warning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잔여 3개 이하·만료 임박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17287" y="1737360"/>
            <a:ext cx="1416039" cy="868680"/>
          </a:xfrm>
          <a:prstGeom prst="roundRect">
            <a:avLst>
              <a:gd name="adj" fmla="val 6000"/>
            </a:avLst>
          </a:prstGeom>
          <a:solidFill>
            <a:srgbClr val="C0392B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#C0392B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17287" y="2670048"/>
            <a:ext cx="14160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--color-danger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품절·결제 실패·노쇼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21608" y="3520439"/>
            <a:ext cx="781171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톤 앤 매너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사실을 먼저 말하고 그다음에 다음 행동을 제안한다 · 고객을 탓하지 않는다 · 느낌표를 쓰지 않는다 · 존댓말 -요 체 · 시스템 상태값을 그대로 노출하지 않는다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70916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좋은 예   마감까지 3시간, 50% 할인이 적용됐어요 / 남은 수량 2개 · 소진 임박 / 결제가 완료되지 않았어요, 2번 더 시도할 수 있어요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0392B"/>
                </a:solidFill>
                <a:latin typeface="Apple SD Gothic Neo"/>
                <a:ea typeface="Apple SD Gothic Neo"/>
                <a:cs typeface="Apple SD Gothic Neo"/>
              </a:rPr>
              <a:t>쓰지 않는 어휘   떨이 · 땡처리 · 재고 정리 · 폭탄 세일 · 역대급 · 초특가 · 마지막 기회 · 놓치지 마세요 · 서두르세요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완료 기준은 테스트 케이스로 검증할 수 있는 문장으로 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고객 흐름 8 · 관리자 흐름 5 · 데이터 정합성 5 · 권한 보안 3 = 21개 중 발췌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출처 · 17-mvp-scope.md §3.1·§3.2·§3.3·§3.4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5887" y="63825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savePick · 2026-09-03 · 13 /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§3.1-2 고객 흐름   </a:t>
            </a:r>
            <a:r>
              <a:rPr sz="14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고객이 로그인 후 상품 선택부터 가상 결제 완료까지 중단 없이 진행해 픽업 번호를 받는다</a:t>
            </a:r>
            <a:r>
              <a:rPr sz="115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   TC-027, TC-040, TC-045, TC-052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50591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§3.1-4 부분 선점 금지   </a:t>
            </a:r>
            <a:r>
              <a:rPr sz="14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재고가 부족한 상품은 주문서 생성 단계에서 부분 선점 없이 전량 거부된다</a:t>
            </a:r>
            <a:r>
              <a:rPr sz="115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   TC-028, TC-036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§3.1-8 노쇼 제재   </a:t>
            </a:r>
            <a:r>
              <a:rPr sz="14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노쇼 발생 시 자동으로 노쇼 처리되고, 최근 30일 3회 누적 시 7일간 신규 주문이 차단된다</a:t>
            </a:r>
            <a:r>
              <a:rPr sz="115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   TC-067, TC-068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877056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§3.3-14 동시성   </a:t>
            </a:r>
            <a:r>
              <a:rPr sz="14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동시에 마지막 재고를 주문한 두 요청 중 정확히 한 건만 성공하고, 확정 수량의 합이 총 재고를 초과하지 않는다</a:t>
            </a:r>
            <a:r>
              <a:rPr sz="115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   TC-036, TC-105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90288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§3.3-15 재고 정합   </a:t>
            </a:r>
            <a:r>
              <a:rPr sz="14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재고 4값(총 재고/판매 가능/선점 중/확정 판매)의 합이 언제나 총 재고와 일치한다</a:t>
            </a:r>
            <a:r>
              <a:rPr sz="115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   TC-082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303520"/>
            <a:ext cx="10874959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§3.4-19 권한   </a:t>
            </a:r>
            <a:r>
              <a:rPr sz="14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고객 권한 토큰으로 관리자 API에 접근하면 거부되고 어떤 데이터도 반환되지 않는다</a:t>
            </a:r>
            <a:r>
              <a:rPr sz="115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   TC-008, TC-112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설계 문서 그대로 백엔드 7개 도메인과 화면 28개를 구현했다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G5 구현 완료 (2026-09-03) — 도메인·화면 슬라이스마다 검증을 통과시켜 진행했다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출처 · 00-status.md 「G5 산출물 — 구현 (2026-09-03)」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5887" y="63825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savePick · 2026-09-03 · 14 /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3381146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백엔드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도메인 7종(계정·매장·상품·재고·장바구니·픽업·주문) + 배치
Java 21 / Spring Boot 3.3 / PostgreSQL 15 / Flyway 19테이블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B5FA5"/>
                </a:solidFill>
                <a:latin typeface="Apple SD Gothic Neo"/>
                <a:ea typeface="Apple SD Gothic Neo"/>
                <a:cs typeface="Apple SD Gothic Neo"/>
              </a:rPr>
              <a:t>테스트 288개 · Testcontainers로 실제 PostgreSQL 사용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5274" y="1737360"/>
            <a:ext cx="3381146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프론트엔드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화면 28개(고객 SC-001~015, 관리자 SC-101~113)
Next.js 16 App Router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B5FA5"/>
                </a:solidFill>
                <a:latin typeface="Apple SD Gothic Neo"/>
                <a:ea typeface="Apple SD Gothic Neo"/>
                <a:cs typeface="Apple SD Gothic Neo"/>
              </a:rPr>
              <a:t>테스트 309개 (typecheck·lint·test)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2180" y="1737360"/>
            <a:ext cx="3381146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연동 · CI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두 서버를 함께 띄워 고객 흐름과 관리자 조회를 실제 API로 통과
GitHub Actions 워크플로 구성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B5FA5"/>
                </a:solidFill>
                <a:latin typeface="Apple SD Gothic Neo"/>
                <a:ea typeface="Apple SD Gothic Neo"/>
                <a:cs typeface="Apple SD Gothic Neo"/>
              </a:rPr>
              <a:t>첫 실행 두 잡 모두 통과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657600"/>
            <a:ext cx="5254599" cy="1691640"/>
          </a:xfrm>
          <a:prstGeom prst="roundRect">
            <a:avLst>
              <a:gd name="adj" fmla="val 6000"/>
            </a:avLst>
          </a:prstGeom>
          <a:solidFill>
            <a:srgbClr val="E7F4EF"/>
          </a:solidFill>
          <a:ln w="12700">
            <a:solidFill>
              <a:srgbClr val="E7F4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구현 중 확정한 사항 3건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I1 관리자 계정은 dev 프로파일 시드로만 만든다 (12번 §5 P7)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I2 dev·test가 아닌 프로파일에서 개발용 기본 JWT 시크릿이면 기동을 거부한다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I3 API-113·114 응답에 pickupStartAt·pickupEndAt 추가 — SC-109·SC-110의 픽업 날짜·시간대 표시에 필요 (11번 반영 완료)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3657600"/>
            <a:ext cx="5254599" cy="169164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 w="12700">
            <a:solidFill>
              <a:srgbClr val="FDF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9A5B00"/>
                </a:solidFill>
                <a:latin typeface="Apple SD Gothic Neo"/>
                <a:ea typeface="Apple SD Gothic Neo"/>
                <a:cs typeface="Apple SD Gothic Neo"/>
              </a:rPr>
              <a:t>구현하지 못한 것 — 11번 수정이 선행돼야 하는 4건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SC-011·SC-110 마감 후 재고 미복구 분기 / SC-108 픽업 시간대 필터 / SC-106 관련 주문 링크 / SC-001 마감 이탈 안내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06번 자체 미구현 2건 — SC-112 수동 노쇼 처리(11번 A-A7이 관리자 수동 노쇼 API를 두지 않기로 확정), SC-102 「재고 이력」 메뉴(재고 관리로 연결)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남은 결정은 전부 기능·데이터 정합성과 무관한 정책·형식 확정이다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0700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MVP 출시를 막는 게이팅 항목은 없다 (17번 §4 G-1~G-6 전항목 해소)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382512"/>
            <a:ext cx="76124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출처 · 17-mvp-scope.md §5, 01 §7 U1·U2, 12 AU-U1, 06 U2 / 10 T-A3, 00-status.md 「다음 작업」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5887" y="63825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7671"/>
                </a:solidFill>
                <a:latin typeface="Apple SD Gothic Neo"/>
                <a:ea typeface="Apple SD Gothic Neo"/>
                <a:cs typeface="Apple SD Gothic Neo"/>
              </a:rPr>
              <a:t>savePick · 2026-09-03 · 15 /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37360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10972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P-1 관리자 세션 수명   </a:t>
            </a:r>
            <a:r>
              <a:rPr sz="13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30분/30일 vs 12시간안 — 기능 결함 없음, 보안 정책 결정 대기 (12번 AU-U1)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10972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P-2 게스트 장바구니 보관   </a:t>
            </a:r>
            <a:r>
              <a:rPr sz="13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06번 U2(브라우저 세션 한정)와 10번 T-A3(서버 7일 보관)의 전제가 다르다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80944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10972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P-3 상품 마감 자동 전환 감사 이력   </a:t>
            </a:r>
            <a:r>
              <a:rPr sz="13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기능 결함 없음, 감사 추적 공백만 존재 (12번 T7)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602736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10972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P-4 선점 만료 임박 안내 1분 전   </a:t>
            </a:r>
            <a:r>
              <a:rPr sz="13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전 트랙이 이미 1분/60초로 통일해 사용 중 — 형식적 확정만 남음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22452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10972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P-5 선택 우선순위 FR 포함 여부   </a:t>
            </a:r>
            <a:r>
              <a:rPr sz="13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FR-012·047·051·058은 이미 "포함"으로 상세 설계 완료 — 형식적 확정만 남음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846320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109728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01번 U1 매장 영업시간   </a:t>
            </a:r>
            <a:r>
              <a:rPr sz="130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10:00~22:00을 임시 채택했다 — 매장 실제 영업시간 확인 필요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513831"/>
            <a:ext cx="10874959" cy="777240"/>
          </a:xfrm>
          <a:prstGeom prst="roundRect">
            <a:avLst>
              <a:gd name="adj" fmla="val 6000"/>
            </a:avLst>
          </a:prstGeom>
          <a:solidFill>
            <a:srgbClr val="F4F7F5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7795E"/>
                </a:solidFill>
                <a:latin typeface="Apple SD Gothic Neo"/>
                <a:ea typeface="Apple SD Gothic Neo"/>
                <a:cs typeface="Apple SD Gothic Neo"/>
              </a:rPr>
              <a:t>다음 작업 (00-status.md)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F1C"/>
                </a:solidFill>
                <a:latin typeface="Apple SD Gothic Neo"/>
                <a:ea typeface="Apple SD Gothic Neo"/>
                <a:cs typeface="Apple SD Gothic Neo"/>
              </a:rPr>
              <a:t>구현하지 못한 4건은 11-api-spec.md 수정이 선행돼야 한다 · 06번 U1·U2·U5와 관리자 세션 수명(T2) 등 미확정 값 결정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